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汇报的主线</a:t>
            </a:r>
          </a:p>
          <a:p/>
          <a:p>
            <a:r>
              <a:t>**多个 Client VM 将工作送到唯一持有物理 GPU 的 Proxy VM；Proxy 按 session 轮转处理提交，Panthor 再按 Group 优先级与 CSG / GPU 地址空间资源安排执行，CSF 固件驱动实际 GPU 工作。**</a:t>
            </a:r>
          </a:p>
          <a:p/>
          <a:p>
            <a:r>
              <a:t>这不是 Host 在几台 Client 之间轮流切换整块 GPU 的直通归属。物理设备由 Proxy 持有，多租户任务通过真实 Panthor 对象进入同一个 GPU 调度域。Host CPU 的 affinity、RPC 请求轮转、GPU Group 时间片是不同的控制点。</a:t>
            </a:r>
          </a:p>
          <a:p/>
          <a:p>
            <a:r>
              <a:t>对象关系必须先讲清：Client VM 是虚拟机；session 是 Client DRM 文件对应的 Proxy 会话；一个 session 可以创建多个 GPU VM（GPU 虚拟地址空间）和多个 Group；Group 包含若干 Queue，绑定一个 GPU VM；Queue 接收 job。源码里的 `group-&gt;vm` 指 GPU 地址空间，不能解释成 Firecracker VM。CSG 是固件上下文槽，不是 shader core。</a:t>
            </a:r>
          </a:p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A[Client VM A / Mesa] --&gt; CA[panthor-client / RPC channel A]</a:t>
            </a:r>
          </a:p>
          <a:p>
            <a:r>
              <a:t> B[Client VM B / Mesa] --&gt; CB[panthor-client / RPC channel B]</a:t>
            </a:r>
          </a:p>
          <a:p>
            <a:r>
              <a:t> CA --&gt; P[Proxy: session 鉴权与对象命名空间]</a:t>
            </a:r>
          </a:p>
          <a:p>
            <a:r>
              <a:t> CB --&gt; P</a:t>
            </a:r>
          </a:p>
          <a:p>
            <a:r>
              <a:t> P --&gt; R[session FIFO + runnable sessions RR]</a:t>
            </a:r>
          </a:p>
          <a:p>
            <a:r>
              <a:t> R --&gt; D[真实 Panthor: Queue job / fence 依赖]</a:t>
            </a:r>
          </a:p>
          <a:p>
            <a:r>
              <a:t> D --&gt; G[Group 调度: 优先级 + CSG / AS 槽]</a:t>
            </a:r>
          </a:p>
          <a:p>
            <a:r>
              <a:t> G --&gt; F[CSF 固件 / shader cores]</a:t>
            </a:r>
          </a:p>
          <a:p>
            <a:r>
              <a:t> F --&gt; C[完成序号 / fence / Client syncobj wait]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汇报的主线</a:t>
            </a:r>
          </a:p>
          <a:p/>
          <a:p>
            <a:r>
              <a:t>**多个 Client VM 将工作送到唯一持有物理 GPU 的 Proxy VM；Proxy 按 session 轮转处理提交，Panthor 再按 Group 优先级与 CSG / GPU 地址空间资源安排执行，CSF 固件驱动实际 GPU 工作。**</a:t>
            </a:r>
          </a:p>
          <a:p/>
          <a:p>
            <a:r>
              <a:t>这不是 Host 在几台 Client 之间轮流切换整块 GPU 的直通归属。物理设备由 Proxy 持有，多租户任务通过真实 Panthor 对象进入同一个 GPU 调度域。Host CPU 的 affinity、RPC 请求轮转、GPU Group 时间片是不同的控制点。</a:t>
            </a:r>
          </a:p>
          <a:p/>
          <a:p>
            <a:r>
              <a:t>对象关系必须先讲清：Client VM 是虚拟机；session 是 Client DRM 文件对应的 Proxy 会话；一个 session 可以创建多个 GPU VM（GPU 虚拟地址空间）和多个 Group；Group 包含若干 Queue，绑定一个 GPU VM；Queue 接收 job。源码里的 `group-&gt;vm` 指 GPU 地址空间，不能解释成 Firecracker VM。CSG 是固件上下文槽，不是 shader core。</a:t>
            </a:r>
          </a:p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A[Client VM A / Mesa] --&gt; CA[panthor-client / RPC channel A]</a:t>
            </a:r>
          </a:p>
          <a:p>
            <a:r>
              <a:t> B[Client VM B / Mesa] --&gt; CB[panthor-client / RPC channel B]</a:t>
            </a:r>
          </a:p>
          <a:p>
            <a:r>
              <a:t> CA --&gt; P[Proxy: session 鉴权与对象命名空间]</a:t>
            </a:r>
          </a:p>
          <a:p>
            <a:r>
              <a:t> CB --&gt; P</a:t>
            </a:r>
          </a:p>
          <a:p>
            <a:r>
              <a:t> P --&gt; R[session FIFO + runnable sessions RR]</a:t>
            </a:r>
          </a:p>
          <a:p>
            <a:r>
              <a:t> R --&gt; D[真实 Panthor: Queue job / fence 依赖]</a:t>
            </a:r>
          </a:p>
          <a:p>
            <a:r>
              <a:t> D --&gt; G[Group 调度: 优先级 + CSG / AS 槽]</a:t>
            </a:r>
          </a:p>
          <a:p>
            <a:r>
              <a:t> G --&gt; F[CSF 固件 / shader cores]</a:t>
            </a:r>
          </a:p>
          <a:p>
            <a:r>
              <a:t> F --&gt; C[完成序号 / fence / Client syncobj wait]</a:t>
            </a:r>
          </a:p>
          <a:p>
            <a:r>
              <a:t>```</a:t>
            </a:r>
          </a:p>
          <a:p/>
          <a:p/>
          <a:p>
            <a:r>
              <a:t>3. 真实提交：句柄翻译、依赖与 Queue</a:t>
            </a:r>
          </a:p>
          <a:p/>
          <a:p>
            <a:r>
              <a:t>worker 调用 `panthor_proxy_session_group_submit()`，在 session 命名空间内将 Client group、syncobj 句柄翻译成 Proxy 真实句柄，重建 queue submit 数组，再调用 `panthor_vmshm_group_submit()`。GPU stream 地址与长度进入真实提交路径；它们指向已经有效映射的 BO，而不是 RPC 自身携带 shader 字节。</a:t>
            </a:r>
          </a:p>
          <a:p/>
          <a:p>
            <a:r>
              <a:t>真实 Panthor 为每个 queue submit 建立 job，收集 syncobj / BO fence 依赖，arm job 并执行 `drm_sched_entity_push_job()`。每个 Queue 配置自己的 DRM scheduler/entity；它控制依赖满足后何时将 job 交给 `queue_run_job()`，不是重新执行一次 Proxy 的 session RR。</a:t>
            </a:r>
          </a:p>
          <a:p/>
          <a:p>
            <a:r>
              <a:t>`queue_run_job()` 将带 CALL 的包装指令写入内核 Queue ringbuffer，CALL 指向用户 CSF stream。如果 Group 未驻留 CSG，触发 Group 调度；已经驻留则通知 doorbell。该函数返回完成 fence，仍不等到 shader 执行结束。固件/中断触发的 `group_sync_upd_work()` 依据完成序号 signal fence；Client 通过 syncobj 等待路径确认完成后才能安全读取结果。</a:t>
            </a:r>
          </a:p>
          <a:p/>
          <a:p>
            <a:r>
              <a:t>**两个返回点：GROUP_SUBMIT RSP = 提交调用返回；完成 fence / syncobj = GPU job 完成或报错。两者不能合并。**</a:t>
            </a:r>
          </a:p>
          <a:p/>
          <a:p>
            <a:r>
              <a:t>代码：`panthor_proxy_drv.c:1770`；`panthor_drv.c:1228, 1254, 2211`；`panthor_sched.c:3334, 3544, 3764`。通用 DRM job/fence 语义参考 [Linux 官方文档](https://www.kernel.org/doc/html/latest/gpu/drm-mm.html)，具体行为以当前本地 Panthor 实现为准。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自研入口：按 session 轮转接纳 GROUP_SUBMIT</a:t>
            </a:r>
          </a:p>
          <a:p/>
          <a:p>
            <a:r>
              <a:t>`panthor_proxy_handle_group_submit()` 从实际接收 channel 取得 `client_vmid`，结合 `session_id` 查找会话并校验 `owner_vmid`；不能仅信任请求载荷里的身份。随后调用 `panthor_proxy_submit_sched_run()`，请求加入该 session 的 FIFO。全局 `runnable_sessions` 只保存有待处理请求的 session，避免同一 session 重复占位。</a:t>
            </a:r>
          </a:p>
          <a:p/>
          <a:p>
            <a:r>
              <a:t>worker 每次取 runnable 表头 session，再取其 FIFO 表头的一个 `GROUP_SUBMIT`；该 session 仍有请求时，将它放回 runnable 表尾。这是**session 粒度、每次一个 RPC 的 round-robin**。同一 RPC 内可以携带多个 queue jobs，执行成本也不同，因此它不构成按 GPU 时间计费的公平性。</a:t>
            </a:r>
          </a:p>
          <a:p/>
          <a:p>
            <a:r>
              <a:t>单个全局 work 串行调用真实 submit 路径，但没有等待 GPU 完成。完成的只是“将请求转成真实 job 并提交给 Panthor”，随后回包；多个会话的 GPU job 可以同时处于 in-flight 状态。</a:t>
            </a:r>
          </a:p>
          <a:p/>
          <a:p>
            <a:r>
              <a:t>```text</a:t>
            </a:r>
          </a:p>
          <a:p>
            <a:r>
              <a:t># 算法示意，假设这些请求已经同时排队，并非默认通道实测队列</a:t>
            </a:r>
          </a:p>
          <a:p>
            <a:r>
              <a:t>Session A: A1 A2 A3     Session B: B1 B2</a:t>
            </a:r>
          </a:p>
          <a:p>
            <a:r>
              <a:t>runnable: [A, B]</a:t>
            </a:r>
          </a:p>
          <a:p>
            <a:r>
              <a:t>处理顺序: A1 → B1 → A2 → B2 → A3</a:t>
            </a:r>
          </a:p>
          <a:p/>
          <a:p>
            <a:r>
              <a:t>pick(): 取 session 表头；取其 FIFO 表头一个请求；</a:t>
            </a:r>
          </a:p>
          <a:p>
            <a:r>
              <a:t>        如果 FIFO 非空，将 session 放回 runnable 表尾。</a:t>
            </a:r>
          </a:p>
          <a:p>
            <a:r>
              <a:t>```</a:t>
            </a:r>
          </a:p>
          <a:p/>
          <a:p>
            <a:r>
              <a:t>当前普通 Client 的 `client_comm_vmshm_call()` 使用 `rpc_lock` 串行化同步 RPC；Proxy 的单个 channel 也同步调用 handler，handler 等待 submit worker 的返回后才继续 drain。因此，常规单通道通常无法自由堆积很多未返回请求；不同 Client 的接收工作可以并行。不能把上面的算法示意描述成默认实测 backlog，也不能认为只要两个 Client 就会发生 GPU 时间片抢占。</a:t>
            </a:r>
          </a:p>
          <a:p/>
          <a:p>
            <a:r>
              <a:t>生命周期保护：pending 总数达到 256 返回 `-EBUSY`；该计数在 pick 时递减，不包括已出队正在处理的请求或 GPU in-flight job。关闭 session 时拒绝新请求并失败唤醒尚未处理的请求，引用计数保护会话生命期。现有上限是全局 pending 保护，并非 per-VM quota。</a:t>
            </a:r>
          </a:p>
          <a:p/>
          <a:p>
            <a:r>
              <a:t>代码：`panthor-proxy/panthor_proxy_drv.c:82, 127, 137, 571, 610, 641, 654, 686, 707, 2608`；`client_vmshm_comm/client_comm_vmshm.c:939`；`proxy_vmshm_comm/proxy_comm_vmshm.c:1182, 1240`。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真实提交：句柄翻译、依赖与 Queue</a:t>
            </a:r>
          </a:p>
          <a:p/>
          <a:p>
            <a:r>
              <a:t>worker 调用 `panthor_proxy_session_group_submit()`，在 session 命名空间内将 Client group、syncobj 句柄翻译成 Proxy 真实句柄，重建 queue submit 数组，再调用 `panthor_vmshm_group_submit()`。GPU stream 地址与长度进入真实提交路径；它们指向已经有效映射的 BO，而不是 RPC 自身携带 shader 字节。</a:t>
            </a:r>
          </a:p>
          <a:p/>
          <a:p>
            <a:r>
              <a:t>真实 Panthor 为每个 queue submit 建立 job，收集 syncobj / BO fence 依赖，arm job 并执行 `drm_sched_entity_push_job()`。每个 Queue 配置自己的 DRM scheduler/entity；它控制依赖满足后何时将 job 交给 `queue_run_job()`，不是重新执行一次 Proxy 的 session RR。</a:t>
            </a:r>
          </a:p>
          <a:p/>
          <a:p>
            <a:r>
              <a:t>`queue_run_job()` 将带 CALL 的包装指令写入内核 Queue ringbuffer，CALL 指向用户 CSF stream。如果 Group 未驻留 CSG，触发 Group 调度；已经驻留则通知 doorbell。该函数返回完成 fence，仍不等到 shader 执行结束。固件/中断触发的 `group_sync_upd_work()` 依据完成序号 signal fence；Client 通过 syncobj 等待路径确认完成后才能安全读取结果。</a:t>
            </a:r>
          </a:p>
          <a:p/>
          <a:p>
            <a:r>
              <a:t>**两个返回点：GROUP_SUBMIT RSP = 提交调用返回；完成 fence / syncobj = GPU job 完成或报错。两者不能合并。**</a:t>
            </a:r>
          </a:p>
          <a:p/>
          <a:p>
            <a:r>
              <a:t>代码：`panthor_proxy_drv.c:1770`；`panthor_drv.c:1228, 1254, 2211`；`panthor_sched.c:3334, 3544, 3764`。通用 DRM job/fence 语义参考 [Linux 官方文档](https://www.kernel.org/doc/html/latest/gpu/drm-mm.html)，具体行为以当前本地 Panthor 实现为准。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真正的 GPU 调度：Group → CSG / GPU AS</a:t>
            </a:r>
          </a:p>
          <a:p/>
          <a:p>
            <a:r>
              <a:t>Panthor 在各优先级 runnable lists 上选择可运行 Group；跳过终止、故障、超时和需跳过的 idle Group，同时检查 CSG 槽及 GPU AS 槽容量。不同 Group 使用同一 GPU VM 时可以复用 AS 计数，不同 GPU 地址空间则占用不同 AS 资源。</a:t>
            </a:r>
          </a:p>
          <a:p/>
          <a:p>
            <a:r>
              <a:t>`group_bind_locked()` 调用 `panthor_vm_active()` 激活 GPU 地址空间并绑定一个 CSG。`csg_slot_prog_locked()` 将 Queue、GPU AS 编号、compute/fragment core mask、endpoint 要求和固件优先级写入固件接口。固件随后消费这些 Group/Queue 的工作。**Group 驻留只表示具有执行上下文，不等于独占某个 shader core；实际工作分配由固件/硬件执行。**</a:t>
            </a:r>
          </a:p>
          <a:p/>
          <a:p>
            <a:r>
              <a:t>资源不足需要换入别的 Group 时，`tick_ctx_apply()` 对被换出 Group 发 SUSPEND（不能再运行则 TERMINATE），等待固件确认、解绑资源，为新 Group 编程并 START/RESUME；换出的可运行 Group 回到对应优先级队列尾部。按优先级选择、同级轮转实现复用。</a:t>
            </a:r>
          </a:p>
          <a:p/>
          <a:p>
            <a:r>
              <a:t>默认 `tick_period` 是 10 ms，可由诊断参数覆盖。`tick_ctx_update_resched_target()` 在 CSG 未满或选入 idle Group 时取消周期 tick；CSG 满且最低驻留优先级还有同级 runnable Group 等待时才安排下个周期。AS 容量也是候选约束，不能将这一判断简化成“任意资源冲突都固定 10 ms 轮转”。不存在给每个 Client 固定 10 ms 的 VM 级 quota。</a:t>
            </a:r>
          </a:p>
          <a:p/>
          <a:p>
            <a:r>
              <a:t>Proxy 的 group-create 拒绝高于 MEDIUM 的请求，因而 Client 能请求 LOW / MEDIUM；HIGH / RT 是底层 Panthor 的能力，当前共享入口不直接开放。LOW 与 MEDIUM 混合仍不能声称各租户相同待遇。</a:t>
            </a:r>
          </a:p>
          <a:p/>
          <a:p>
            <a:r>
              <a:t>代码：`panthor_sched.c:65, 1320, 1648, 2280, 2647, 2803, 2838, 4241`；`panthor_proxy_drv.c:1037`。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真正的 GPU 调度：Group → CSG / GPU AS</a:t>
            </a:r>
          </a:p>
          <a:p/>
          <a:p>
            <a:r>
              <a:t>Panthor 在各优先级 runnable lists 上选择可运行 Group；跳过终止、故障、超时和需跳过的 idle Group，同时检查 CSG 槽及 GPU AS 槽容量。不同 Group 使用同一 GPU VM 时可以复用 AS 计数，不同 GPU 地址空间则占用不同 AS 资源。</a:t>
            </a:r>
          </a:p>
          <a:p/>
          <a:p>
            <a:r>
              <a:t>`group_bind_locked()` 调用 `panthor_vm_active()` 激活 GPU 地址空间并绑定一个 CSG。`csg_slot_prog_locked()` 将 Queue、GPU AS 编号、compute/fragment core mask、endpoint 要求和固件优先级写入固件接口。固件随后消费这些 Group/Queue 的工作。**Group 驻留只表示具有执行上下文，不等于独占某个 shader core；实际工作分配由固件/硬件执行。**</a:t>
            </a:r>
          </a:p>
          <a:p/>
          <a:p>
            <a:r>
              <a:t>资源不足需要换入别的 Group 时，`tick_ctx_apply()` 对被换出 Group 发 SUSPEND（不能再运行则 TERMINATE），等待固件确认、解绑资源，为新 Group 编程并 START/RESUME；换出的可运行 Group 回到对应优先级队列尾部。按优先级选择、同级轮转实现复用。</a:t>
            </a:r>
          </a:p>
          <a:p/>
          <a:p>
            <a:r>
              <a:t>默认 `tick_period` 是 10 ms，可由诊断参数覆盖。`tick_ctx_update_resched_target()` 在 CSG 未满或选入 idle Group 时取消周期 tick；CSG 满且最低驻留优先级还有同级 runnable Group 等待时才安排下个周期。AS 容量也是候选约束，不能将这一判断简化成“任意资源冲突都固定 10 ms 轮转”。不存在给每个 Client 固定 10 ms 的 VM 级 quota。</a:t>
            </a:r>
          </a:p>
          <a:p/>
          <a:p>
            <a:r>
              <a:t>Proxy 的 group-create 拒绝高于 MEDIUM 的请求，因而 Client 能请求 LOW / MEDIUM；HIGH / RT 是底层 Panthor 的能力，当前共享入口不直接开放。LOW 与 MEDIUM 混合仍不能声称各租户相同待遇。</a:t>
            </a:r>
          </a:p>
          <a:p/>
          <a:p>
            <a:r>
              <a:t>代码：`panthor_sched.c:65, 1320, 1648, 2280, 2647, 2803, 2838, 4241`；`panthor_proxy_drv.c:1037`。</a:t>
            </a:r>
          </a:p>
          <a:p/>
          <a:p/>
          <a:p>
            <a:r>
              <a:t>5. 两种场景，解释为何不总是轮流执行</a:t>
            </a:r>
          </a:p>
          <a:p/>
          <a:p>
            <a:r>
              <a:t>场景 A：A、B 的 runnable Groups 都能放入可用 CSG / AS 资源。两者可以同时驻留，由 CSF 固件继续调度，内核不必为了两个 VM 强制启动周期轮转。能驻留不证明两个 shader workload 在任意时刻真正并行。</a:t>
            </a:r>
          </a:p>
          <a:p/>
          <a:p>
            <a:r>
              <a:t>场景 B：同优先级 Group 超过 CSG 容量且出现同级等待者。内核按 tick 重新选组，SUSPEND 旧 Group、释放槽、START/RESUME 新 Group；被换出的 Group 入队尾等待下一轮。此时才适合画时间片示意。汇报图只画“槽 S：GA → GB → GA”，标注“竞争场景示意；tick 默认 10 ms，切换及运行时间不等于精确配额”，不要画“VM A 固定 50% / VM B 固定 50%”。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真正的 GPU 调度：Group → CSG / GPU AS</a:t>
            </a:r>
          </a:p>
          <a:p/>
          <a:p>
            <a:r>
              <a:t>Panthor 在各优先级 runnable lists 上选择可运行 Group；跳过终止、故障、超时和需跳过的 idle Group，同时检查 CSG 槽及 GPU AS 槽容量。不同 Group 使用同一 GPU VM 时可以复用 AS 计数，不同 GPU 地址空间则占用不同 AS 资源。</a:t>
            </a:r>
          </a:p>
          <a:p/>
          <a:p>
            <a:r>
              <a:t>`group_bind_locked()` 调用 `panthor_vm_active()` 激活 GPU 地址空间并绑定一个 CSG。`csg_slot_prog_locked()` 将 Queue、GPU AS 编号、compute/fragment core mask、endpoint 要求和固件优先级写入固件接口。固件随后消费这些 Group/Queue 的工作。**Group 驻留只表示具有执行上下文，不等于独占某个 shader core；实际工作分配由固件/硬件执行。**</a:t>
            </a:r>
          </a:p>
          <a:p/>
          <a:p>
            <a:r>
              <a:t>资源不足需要换入别的 Group 时，`tick_ctx_apply()` 对被换出 Group 发 SUSPEND（不能再运行则 TERMINATE），等待固件确认、解绑资源，为新 Group 编程并 START/RESUME；换出的可运行 Group 回到对应优先级队列尾部。按优先级选择、同级轮转实现复用。</a:t>
            </a:r>
          </a:p>
          <a:p/>
          <a:p>
            <a:r>
              <a:t>默认 `tick_period` 是 10 ms，可由诊断参数覆盖。`tick_ctx_update_resched_target()` 在 CSG 未满或选入 idle Group 时取消周期 tick；CSG 满且最低驻留优先级还有同级 runnable Group 等待时才安排下个周期。AS 容量也是候选约束，不能将这一判断简化成“任意资源冲突都固定 10 ms 轮转”。不存在给每个 Client 固定 10 ms 的 VM 级 quota。</a:t>
            </a:r>
          </a:p>
          <a:p/>
          <a:p>
            <a:r>
              <a:t>Proxy 的 group-create 拒绝高于 MEDIUM 的请求，因而 Client 能请求 LOW / MEDIUM；HIGH / RT 是底层 Panthor 的能力，当前共享入口不直接开放。LOW 与 MEDIUM 混合仍不能声称各租户相同待遇。</a:t>
            </a:r>
          </a:p>
          <a:p/>
          <a:p>
            <a:r>
              <a:t>代码：`panthor_sched.c:65, 1320, 1648, 2280, 2647, 2803, 2838, 4241`；`panthor_proxy_drv.c:1037`。</a:t>
            </a:r>
          </a:p>
          <a:p/>
          <a:p/>
          <a:p>
            <a:r>
              <a:t>6. Host CPU 放置与 GPU 核划分的边界</a:t>
            </a:r>
          </a:p>
          <a:p/>
          <a:p>
            <a:r>
              <a:t>两 Client 自动化脚本在未手工覆盖且存在 CPU 0–3 时默认 broker→0、Proxy→1、Client0→2、Client1→3，默认每台 VM 1 vCPU，退出恢复原 affinity。它减少 CPU 竞争对 RPC / Proxy 处理的干扰，属于实验执行环境，不能当成 GPU 时间片算法。</a:t>
            </a:r>
          </a:p>
          <a:p/>
          <a:p>
            <a:r>
              <a:t>`group_core_partitions` 默认 0，只有配置 ≥2 才尝试按 session_id 分片修改 Group compute/fragment mask；这是可选诊断实验，当前默认共享设计不是按 VM 固定切 core，更不能宣称硬件 MIG 或已验证的空间隔离。</a:t>
            </a:r>
          </a:p>
          <a:p/>
          <a:p>
            <a:r>
              <a:t>代码：`scripts/run/run-vmshm-2client-e2e.sh:27, 369`；`panthor_proxy_drv.c:152, 197`。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已有证据支持哪些结论</a:t>
            </a:r>
          </a:p>
          <a:p/>
          <a:p>
            <a:r>
              <a:t>留存目录 `GPU-SFTP/log/shared/vmshm-2client/vmshm-2client-gles-32m-opencca-pmthor-20260711-151421`：两 Client 均识别 Mali-G610 (Panfrost)；`COMPUTE_CHECK=PASS count=8388608 samples=16`；每 Client 20 次迭代平均端到端时延分别 29980.05 μs 和 29986.50 μs。它证明该次双 Client 工作负载跑通、采样结果正确；该时延包含整个迭代，不是纯 GPU 执行时间。</a:t>
            </a:r>
          </a:p>
          <a:p/>
          <a:p>
            <a:r>
              <a:t>现有日志没有直接证明 session RR 的实测顺序、每 VM GPU 活跃时间、超槽情况下的 Group 切换次数或任意负载的公平性。因此 PPT 用该数据作为功能与历史时延证据；本次静态分析与历史运行应分别标明。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汇报贡献与下一步</a:t>
            </a:r>
          </a:p>
          <a:p/>
          <a:p>
            <a:r>
              <a:t>当前自研贡献：跨 VM 的 Client/Proxy 提交桥接；从 channel 派生身份并隔离 session 对象命名空间；session FIFO + RR 的提交入口；pending 上限与关闭唤醒/引用保护；独立 Client channel 的处理及可重复的双 Client CPU 放置。真实 GPU 执行继续复用 DRM fence/entity、Panthor Group 调度以及 CSF 固件能力。</a:t>
            </a:r>
          </a:p>
          <a:p/>
          <a:p>
            <a:r>
              <a:t>下一阶段按可验证目标推进：</a:t>
            </a:r>
          </a:p>
          <a:p/>
          <a:p>
            <a:r>
              <a:t>1. **先测量**：关联 owner_vmid、session、Group、Queue、job/fence；记录 RPC 入队/出队、DRM ready、CSG bind/unbind、完成时间。CSG 驻留时间只能作代理指标，不能直接冒充 shader 实际活跃时间。</a:t>
            </a:r>
          </a:p>
          <a:p>
            <a:r>
              <a:t>2. **再验证竞争**：同优先级多 Group 超过实测 CSG/AS 容量；短/长任务混合；一个 VM 多 session；LOW/MEDIUM 混合。报告排队时延、端到端 p95/p99、进展性、GPU 运行证据。</a:t>
            </a:r>
          </a:p>
          <a:p>
            <a:r>
              <a:t>3. **最后引入策略**：按 owner_vmid 聚合 session；per-VM pending / in-flight 预算、租户优先级政策与限流；需要 GPU 时间 SLA 时再将租户策略与 Group 调度层联动。仅在 RPC 入口加权 RR 无法保证 GPU 时间公平。</a:t>
            </a:r>
          </a:p>
          <a:p/>
          <a:p/>
          <a:p>
            <a:r>
              <a:t>9. PPT 讲述顺序</a:t>
            </a:r>
          </a:p>
          <a:p/>
          <a:p>
            <a:r>
              <a:t>1. 一个物理 GPU，多 VM 提交，两处调度控制点。</a:t>
            </a:r>
          </a:p>
          <a:p>
            <a:r>
              <a:t>2. 对象层次与端到端架构图。</a:t>
            </a:r>
          </a:p>
          <a:p>
            <a:r>
              <a:t>3. Proxy session RR 算法和回包边界。</a:t>
            </a:r>
          </a:p>
          <a:p>
            <a:r>
              <a:t>4. DRM 依赖、Queue ringbuffer、完成 fence。</a:t>
            </a:r>
          </a:p>
          <a:p>
            <a:r>
              <a:t>5. Panthor Group / CSG / AS 的执行调度。</a:t>
            </a:r>
          </a:p>
          <a:p>
            <a:r>
              <a:t>6. 可同时驻留与需要换入换出的两种场景。</a:t>
            </a:r>
          </a:p>
          <a:p>
            <a:r>
              <a:t>7. CPU 放置、默认优先级政策、core-mask 实验边界。</a:t>
            </a:r>
          </a:p>
          <a:p>
            <a:r>
              <a:t>8. 已有成功日志及可证明范围。</a:t>
            </a:r>
          </a:p>
          <a:p>
            <a:r>
              <a:t>9. 自研贡献与可测量的开发路线。</a:t>
            </a:r>
          </a:p>
          <a:p/>
          <a:p>
            <a:r>
              <a:t>建议开场：我们将物理 GPU 的控制集中在 Proxy VM，各 Client 保持 Mesa/Panthor 提交接口。调度分为两处：入口处理的是 session 请求轮转，底层处理的是 GPU Group 资源与执行上下文。先说明这两处，再展示为什么该实现能够接收多个 Client 的任务，以及还需要哪些测量才能声称租户公平。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多 VM 共享 GPU：提交轮转与执行调度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RK3588 · Mali-G610 · Client / Proxy · 当前代码分析：2026-10-08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范围：共享虚拟化路径；静态源码分析 + 历史双 Client 成功日志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32918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5065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控制点 1｜Proxy 提交入口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5065776" cy="2432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调度对象：session 的提交 RPC</a:t>
            </a:r>
          </a:p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策略：FIFO + session round-robin</a:t>
            </a:r>
          </a:p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结果：请求进入真实 Panthor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32918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56816"/>
            <a:ext cx="5065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控制点 2｜Panthor / CSF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596896"/>
            <a:ext cx="5065776" cy="2432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调度对象：GPU Group / Queue</a:t>
            </a:r>
          </a:p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策略：优先级 + 资源约束 + 同级轮转</a:t>
            </a:r>
          </a:p>
          <a:p>
            <a:pPr>
              <a:spcAft>
                <a:spcPts val="1000"/>
              </a:spcAft>
              <a:defRPr sz="2300" b="0">
                <a:solidFill>
                  <a:srgbClr val="243B53"/>
                </a:solidFill>
                <a:latin typeface="Noto Sans CJK SC"/>
              </a:defRPr>
            </a:pPr>
            <a:r>
              <a:t>结果：Group 驻留，固件驱动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核心结论：入口轮转保障提交机会；GPU 时间分配由底层执行调度决定。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架构：多租户工作汇入同一个 GPU 调度域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物理 GPU 由 Proxy VM 持有；Host 不在 Client 之间切换整块 GPU 归属。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源码：panthor-client:1773 → panthor-proxy:2608 / 1770 → panthor_drv:2211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286000" cy="13716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19568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Client VM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1956816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43B53"/>
                </a:solidFill>
                <a:latin typeface="Noto Sans CJK SC"/>
              </a:defRPr>
            </a:pPr>
            <a:r>
              <a:t>Mesa → panthor-client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2286000" cy="13716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48456"/>
            <a:ext cx="19568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Client VM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88536"/>
            <a:ext cx="1956816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43B53"/>
                </a:solidFill>
                <a:latin typeface="Noto Sans CJK SC"/>
              </a:defRPr>
            </a:pPr>
            <a:r>
              <a:t>Mesa → panthor-client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423160"/>
            <a:ext cx="50292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246BCE"/>
                </a:solidFill>
                <a:latin typeface="Noto Sans CJK SC"/>
              </a:defRPr>
            </a:pPr>
            <a:r>
              <a:t>→</a:t>
            </a:r>
          </a:p>
          <a:p>
            <a:pPr>
              <a:spcAft>
                <a:spcPts val="1000"/>
              </a:spcAft>
              <a:defRPr sz="2800" b="0">
                <a:solidFill>
                  <a:srgbClr val="246BCE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800" b="0">
                <a:solidFill>
                  <a:srgbClr val="246BCE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3017520" cy="30632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956816"/>
            <a:ext cx="26883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Proxy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596896"/>
            <a:ext cx="2688336" cy="2203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独立 RPC channel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session 身份 / 句柄隔离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提交入口 RR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真实 Panthor 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98648"/>
            <a:ext cx="5029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87E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28800"/>
            <a:ext cx="4617720" cy="30632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1956816"/>
            <a:ext cx="4288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真实 GPU 执行路径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596896"/>
            <a:ext cx="4288536" cy="2203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Queue：job 与 fence 依赖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Group：CSG / GPU AS 槽调度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CSF 固件：消费命令流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Shader cores：执行 shader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对象层次：Client VM → session → GPU VM / Group → Queue → job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Proxy：每轮只取一个 session 的一个提交 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每 session 一条 FIFO；全局 runnable 列表只保存有待处理请求的 session。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源码：panthor_proxy_drv.c:654 pick / 686 worker / 707 enqueue / 610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16636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48371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选取算法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483717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43B53"/>
                </a:solidFill>
                <a:latin typeface="Noto Sans CJK SC"/>
              </a:defRPr>
            </a:pPr>
            <a:r>
              <a:t>① 取 runnable 表头 session</a:t>
            </a:r>
          </a:p>
          <a:p>
            <a:pPr>
              <a:spcAft>
                <a:spcPts val="1000"/>
              </a:spcAft>
              <a:defRPr sz="2100" b="0">
                <a:solidFill>
                  <a:srgbClr val="243B53"/>
                </a:solidFill>
                <a:latin typeface="Noto Sans CJK SC"/>
              </a:defRPr>
            </a:pPr>
            <a:r>
              <a:t>② 取 session FIFO 表头一个请求</a:t>
            </a:r>
          </a:p>
          <a:p>
            <a:pPr>
              <a:spcAft>
                <a:spcPts val="1000"/>
              </a:spcAft>
              <a:defRPr sz="2100" b="0">
                <a:solidFill>
                  <a:srgbClr val="243B53"/>
                </a:solidFill>
                <a:latin typeface="Noto Sans CJK SC"/>
              </a:defRPr>
            </a:pPr>
            <a:r>
              <a:t>③ 有剩余请求则 session 回到表尾</a:t>
            </a:r>
          </a:p>
          <a:p>
            <a:pPr>
              <a:spcAft>
                <a:spcPts val="1000"/>
              </a:spcAft>
              <a:defRPr sz="2100" b="0">
                <a:solidFill>
                  <a:srgbClr val="243B53"/>
                </a:solidFill>
                <a:latin typeface="Noto Sans CJK SC"/>
              </a:defRPr>
            </a:pPr>
            <a:r>
              <a:t>④ worker 调用真实 GROUP_SUBMIT</a:t>
            </a:r>
          </a:p>
          <a:p>
            <a:pPr>
              <a:spcAft>
                <a:spcPts val="1000"/>
              </a:spcAft>
              <a:defRPr sz="2100" b="0">
                <a:solidFill>
                  <a:srgbClr val="243B53"/>
                </a:solidFill>
                <a:latin typeface="Noto Sans CJK SC"/>
              </a:defRPr>
            </a:pPr>
            <a:r>
              <a:t>⑤ 调用返回后唤醒 handler 并回包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28800"/>
            <a:ext cx="562356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956816"/>
            <a:ext cx="52943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算法示意｜假设请求已同时排队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2596896"/>
            <a:ext cx="529437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A：A1  A2  A3        B：B1  B2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顺序：A1 → B1 → A2 → B2 → A3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轮转单位：一个 RPC，可含多个 jobs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默认通道同步 RPC，深队列并非必然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全局 pending 上限 256，满则 -EBUSY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worker 串行处理提交调用，但不等待 GPU 完成；多个租户 job 可同时 in-flight。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从提交成功到执行完成：两个不同的返回点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真实 Panthor 将提交转成 job；依赖满足后写入 Queue ringbuffer。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源码：panthor_drv:1228 / 1254 / 2211；panthor_sched:3544 / 3334 / 3764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560320" cy="3246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93976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1  对象翻译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34056"/>
            <a:ext cx="2231136" cy="23865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session 内的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Group / syncobj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→ 真实句柄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3063240"/>
            <a:ext cx="2560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7E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65960"/>
            <a:ext cx="2560320" cy="3246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093976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2  接纳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734056"/>
            <a:ext cx="2231136" cy="23865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收集 fence 依赖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arm + push_job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→ 提交调用返回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063240"/>
            <a:ext cx="2560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7E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2560320" cy="3246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093976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3  Queue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34056"/>
            <a:ext cx="2231136" cy="23865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依赖满足后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ringbuffer 写 CALL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→ Group / doorbell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3063240"/>
            <a:ext cx="25603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7E8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965960"/>
            <a:ext cx="2560320" cy="3246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093976"/>
            <a:ext cx="22311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4  GPU 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734056"/>
            <a:ext cx="2231136" cy="23865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固件完成序号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IRQ / sync work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→ signal fence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GROUP_SUBMIT RSP 表示提交调用返回；Client 等待 syncobj 才确认 job 完成或报错。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Panthor：按 Group 选择并配置执行上下文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GPU VM 是 GPU 地址空间；CSG 是固件上下文槽，不能理解为 shader core。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源码：panthor_sched.c:2280 pick / 1320 bind / 1648 program / 2647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选择候选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314553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优先级从高到低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跳过故障 / 不可运行 Group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检查 CSG 槽是否有空间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检查不同 GPU VM 的 AS 槽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相同 GPU VM 可复用 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47472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建立驻留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96896"/>
            <a:ext cx="314553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激活 GPU VM 地址空间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Group 绑定 CSG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配置 Queue / GPU AS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设置 endpoint / core mask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通知固件 START / RESUME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65760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956816"/>
            <a:ext cx="33284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换入与换出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596896"/>
            <a:ext cx="332841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被换出 Group：SUSPEND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不可运行 Group：TERMINATE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固件确认后解绑 CSG / AS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可运行 Group 回队尾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重新选组并编程上下文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复用现有 Panthor 的 priority + round-robin；实际 shader 工作由固件 / 硬件安排。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两种资源场景：为何不总是逐 VM 轮流运行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是否启动周期轮转取决于 Group 竞争与资源状态，而非 Client VM 的数量本身。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源码：panthor_sched.c:2803 resched target / 2838 tick / 4241 default 10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34747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5065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场景 A｜资源足够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5065776" cy="2615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GA、GB 可同时驻留 CSG / AS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CSF 固件继续调度活跃 Group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无需因两个 VM 强制周期轮转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同时驻留 ≠ 任意时刻 shader 并行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34747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56816"/>
            <a:ext cx="506577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场景 B｜同级 Group 竞争 CSG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596896"/>
            <a:ext cx="5065776" cy="2615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CSG 满且存在同级等待 Group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SUSPEND → 释放槽 → RESUME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槽 S：GA → GB → GA（示意）</a:t>
            </a: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243B53"/>
                </a:solidFill>
                <a:latin typeface="Noto Sans CJK SC"/>
              </a:defRPr>
            </a:pPr>
            <a:r>
              <a:t>默认 tick 10 ms，非严格运行配额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提交 RR 和 Group 同级轮转都不直接保证每 VM 50% 的 GPU 时间。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默认策略与边界：CPU、优先级、GPU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将环境控制、入口政策和可选实验分开，避免把它们写成同一种调度机制。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源码：run-vmshm-2client-e2e.sh:369；panthor_proxy_drv.c:1037 / 152 / 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Host CPU 放置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314553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默认四 CPU 条件下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broker / Proxy / 两 Client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分别放在 CPU 0 / 1 / 2 / 3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降低 CPU 竞争干扰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退出恢复原 affinity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47472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共享入口优先级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96896"/>
            <a:ext cx="314553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Client 请求只允许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LOW / MEDIUM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高于 MEDIUM 返回 -EACCES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底层 HIGH / RT 不直接开放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混合优先级非同等待遇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657600" cy="3520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956816"/>
            <a:ext cx="33284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可选 core-mask 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596896"/>
            <a:ext cx="3328416" cy="2660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group_core_partitions 默认 0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配置 ≥2 时按 session 分片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修改 Group 的 core mask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未作为默认设计启用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不能宣称按 VM 硬件 MIG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公平性对象仍是 session / Group；一个 VM 创建多个 session / Group 会影响竞争。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成功证据：双 Client 跑通；公平性还需直接测量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2026-07-11 留存运行：两 Client 都使用 Mali-G610 (Panfrost)，采样计算检查通过。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日志：GPU-SFTP/log/shared/vmshm-2client/vmshm-2client-gles-32m-opencca-pmthor-20260711-151421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3375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Client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3145536" cy="2478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29.980 ms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平均迭代端到端时延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20 次迭代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COMPUTE_CHECK =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474720" cy="33375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Client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96896"/>
            <a:ext cx="3145536" cy="2478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29.987 ms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平均迭代端到端时延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20 次迭代</a:t>
            </a:r>
          </a:p>
          <a:p>
            <a:pPr>
              <a:spcAft>
                <a:spcPts val="1000"/>
              </a:spcAft>
              <a:defRPr sz="2400" b="0">
                <a:solidFill>
                  <a:srgbClr val="243B53"/>
                </a:solidFill>
                <a:latin typeface="Noto Sans CJK SC"/>
              </a:defRPr>
            </a:pPr>
            <a:r>
              <a:t>COMPUTE_CHECK =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657600" cy="33375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956816"/>
            <a:ext cx="33284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证据的范围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596896"/>
            <a:ext cx="3328416" cy="2478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count = 8,388,608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正确性检查 samples = 16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时延包含整个迭代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不能当成纯 GPU 时间</a:t>
            </a:r>
          </a:p>
          <a:p>
            <a:pPr>
              <a:spcAft>
                <a:spcPts val="1000"/>
              </a:spcAft>
              <a:defRPr sz="1900" b="0">
                <a:solidFill>
                  <a:srgbClr val="243B53"/>
                </a:solidFill>
                <a:latin typeface="Noto Sans CJK SC"/>
              </a:defRPr>
            </a:pPr>
            <a:r>
              <a:t>本次未重新运行硬件测试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支持双 Client 功能运行；尚未直接证明 RR 顺序、Group 切换和租户 GPU 时间公平。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32943"/>
                </a:solidFill>
                <a:latin typeface="Noto Sans CJK SC"/>
              </a:defRPr>
            </a:pPr>
            <a:r>
              <a:t>贡献与路线：先建立可观测性，再实现租户策略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1758A"/>
                </a:solidFill>
                <a:latin typeface="Noto Sans CJK SC"/>
              </a:defRPr>
            </a:pPr>
            <a:r>
              <a:t>现有工作完成跨 VM 提交整合；GPU 时间 SLA 需要入口和执行层共同约束。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1758A"/>
                </a:solidFill>
                <a:latin typeface="Noto Sans CJK SC"/>
              </a:defRPr>
            </a:pPr>
            <a:r>
              <a:t>依据：当前 session / worker / Group 代码；下一步均为设计建议，尚未实现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45936"/>
            <a:ext cx="457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46BCE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566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46BCE"/>
                </a:solidFill>
                <a:latin typeface="Noto Sans CJK SC"/>
              </a:defRPr>
            </a:pPr>
            <a:r>
              <a:t>当前自研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96896"/>
            <a:ext cx="3145536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Client / Proxy 提交桥接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channel 派生租户身份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session 对象命名空间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FIFO + RR 提交入口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pending 上限与关闭唤醒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双 Client 自动化执行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474720" cy="3566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956816"/>
            <a:ext cx="314553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复用底层能力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96896"/>
            <a:ext cx="3145536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DRM Queue scheduler / entity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fence 依赖与完成同步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Panthor Group 优先级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CSG / AS 资源约束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固件 suspend / resume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CSF / shader 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657600" cy="3566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956816"/>
            <a:ext cx="332841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E8B"/>
                </a:solidFill>
                <a:latin typeface="Noto Sans CJK SC"/>
              </a:defRPr>
            </a:pPr>
            <a:r>
              <a:t>下一步开发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596896"/>
            <a:ext cx="3328416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关联 VMID → session → job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测入队 / ready / bind / 完成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超槽、多 session、长短任务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按 VM 聚合并限制预算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联动 Group 层租户策略</a:t>
            </a:r>
          </a:p>
          <a:p>
            <a:pPr>
              <a:spcAft>
                <a:spcPts val="1000"/>
              </a:spcAft>
              <a:defRPr sz="2000" b="0">
                <a:solidFill>
                  <a:srgbClr val="243B53"/>
                </a:solidFill>
                <a:latin typeface="Noto Sans CJK SC"/>
              </a:defRPr>
            </a:pPr>
            <a:r>
              <a:t>用 p95 / p99 与进展性验证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59552"/>
            <a:ext cx="11064240" cy="612648"/>
          </a:xfrm>
          <a:prstGeom prst="roundRect">
            <a:avLst/>
          </a:prstGeom>
          <a:solidFill>
            <a:srgbClr val="13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698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CSG 驻留时间只是代理指标；仅加权 RPC 轮转不能保证 GPU 执行时间公平。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